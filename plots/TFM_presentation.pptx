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1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· PRESENTATION DRAFT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Optimization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Markowitz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Mean–Variance, Risk Parity, and Hierarchical Risk Parity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Traditional (ETF) and Cryptocurrency Universes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5212080"/>
            <a:ext cx="1371600" cy="0"/>
          </a:xfrm>
          <a:prstGeom prst="line">
            <a:avLst/>
          </a:prstGeom>
          <a:noFill/>
          <a:ln w="25400">
            <a:solidFill>
              <a:srgbClr val="E8B339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 &amp; Findings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prepared for the thesis supervisor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robust allocation methods beat the fragility of mean–variance optimization?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24712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integrating validated investment signals into robust portfolio construction methods lead to more stable allocations and reduced drawdowns versus traditional mean–variance optimization — without significantly sacrificing risk-adjusted performance?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36118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73152" cy="2606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3" name="Text 11"/>
          <p:cNvSpPr/>
          <p:nvPr/>
        </p:nvSpPr>
        <p:spPr>
          <a:xfrm>
            <a:off x="731520" y="3776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H1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325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 stability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methods (RP, HRP) produce more stable portfolio weights than MVO under rolling estimation — measured by turnover and weight stability.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4820" y="3611880"/>
            <a:ext cx="36118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7" name="Shape 15"/>
          <p:cNvSpPr/>
          <p:nvPr/>
        </p:nvSpPr>
        <p:spPr>
          <a:xfrm>
            <a:off x="4274820" y="3611880"/>
            <a:ext cx="73152" cy="260604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8" name="Text 16"/>
          <p:cNvSpPr/>
          <p:nvPr/>
        </p:nvSpPr>
        <p:spPr>
          <a:xfrm>
            <a:off x="4549140" y="3776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H2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49140" y="40325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Drawdown robustness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9140" y="448056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allocation methods reduce maximum drawdown relative to MVO, particularly during periods of market stress and regime change.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611880"/>
            <a:ext cx="36118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2" name="Shape 20"/>
          <p:cNvSpPr/>
          <p:nvPr/>
        </p:nvSpPr>
        <p:spPr>
          <a:xfrm>
            <a:off x="8092440" y="3611880"/>
            <a:ext cx="73152" cy="260604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3" name="Text 21"/>
          <p:cNvSpPr/>
          <p:nvPr/>
        </p:nvSpPr>
        <p:spPr>
          <a:xfrm>
            <a:off x="8366760" y="3776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H3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6760" y="40325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material loss in Sharpe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448056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methods do not significantly deteriorate risk-adjusted performance — improved stability is not paid for in lost return per unit of risk.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at a glance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empirical framework: signal validation, then robust portfolio construction.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" y="2011680"/>
            <a:ext cx="2148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461772" y="2011680"/>
            <a:ext cx="214884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553212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3212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universe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Crypto universe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34056" y="2011680"/>
            <a:ext cx="2148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2734056" y="2011680"/>
            <a:ext cx="214884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2825496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25496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· Trend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regime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06340" y="2011680"/>
            <a:ext cx="2148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9" name="Shape 17"/>
          <p:cNvSpPr/>
          <p:nvPr/>
        </p:nvSpPr>
        <p:spPr>
          <a:xfrm>
            <a:off x="5006340" y="2011680"/>
            <a:ext cx="214884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0" name="Text 18"/>
          <p:cNvSpPr/>
          <p:nvPr/>
        </p:nvSpPr>
        <p:spPr>
          <a:xfrm>
            <a:off x="509778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97780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out-of-sample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Triple-barrier labeling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78624" y="2011680"/>
            <a:ext cx="2148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4" name="Shape 22"/>
          <p:cNvSpPr/>
          <p:nvPr/>
        </p:nvSpPr>
        <p:spPr>
          <a:xfrm>
            <a:off x="7278624" y="2011680"/>
            <a:ext cx="2148840" cy="73152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5" name="Text 23"/>
          <p:cNvSpPr/>
          <p:nvPr/>
        </p:nvSpPr>
        <p:spPr>
          <a:xfrm>
            <a:off x="7370064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70064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· RP · HRP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rebalancing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50908" y="2011680"/>
            <a:ext cx="2148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9" name="Shape 27"/>
          <p:cNvSpPr/>
          <p:nvPr/>
        </p:nvSpPr>
        <p:spPr>
          <a:xfrm>
            <a:off x="9550908" y="2011680"/>
            <a:ext cx="2148840" cy="7315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0" name="Text 28"/>
          <p:cNvSpPr/>
          <p:nvPr/>
        </p:nvSpPr>
        <p:spPr>
          <a:xfrm>
            <a:off x="9642348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42348" y="2423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· Drawdown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· Turnover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383280"/>
            <a:ext cx="55321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73152" cy="2926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4" name="Text 32"/>
          <p:cNvSpPr/>
          <p:nvPr/>
        </p:nvSpPr>
        <p:spPr>
          <a:xfrm>
            <a:off x="731520" y="35478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380390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estimation framework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" y="420624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window: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 of monthly returns for ETFs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window: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monthly returns for cryptocurrencies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1-month out-of-sample horizon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universe: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SPY, EFA, EEM, TLT, HYG, GLD (2010 – 2026)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universe: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BTC, ETH, LTC, XRP, DOGE (2019 – 2026)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look-ahead bias; transaction costs simplified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3383280"/>
            <a:ext cx="55321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38" name="Shape 36"/>
          <p:cNvSpPr/>
          <p:nvPr/>
        </p:nvSpPr>
        <p:spPr>
          <a:xfrm>
            <a:off x="6172200" y="3383280"/>
            <a:ext cx="73152" cy="2926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9" name="Text 37"/>
          <p:cNvSpPr/>
          <p:nvPr/>
        </p:nvSpPr>
        <p:spPr>
          <a:xfrm>
            <a:off x="6446520" y="35478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METHODS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380390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approaches compared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46520" y="4206240"/>
            <a:ext cx="51617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Markowitz mean–variance with constraints. Inverts Σ; sensitive to estimation noise.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Risk Parity. Equalizes risk contribution; ignores expected returns.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Hierarchical Risk Parity. Clusters assets, then bisects recursively. Avoids Σ⁻¹.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9752" y="2304288"/>
            <a:ext cx="169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32036" y="2304288"/>
            <a:ext cx="169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87468" y="2304288"/>
            <a:ext cx="169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15184" y="2304288"/>
            <a:ext cx="169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Asset Universe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ETFs · 2010 –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 ·  EFA  ·  EEM  ·  TLT  ·  HYG  ·  GLD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ETFS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ETFs — performance 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across MVO, Risk Parity and Hierarchical Risk Parity.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(MVO)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0.88 RP · 0.90 HRP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87452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4251960" y="1874520"/>
            <a:ext cx="3657600" cy="7315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443484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DRAWDOWN (HRP)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350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−21.4%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3484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−22.2% MVO · −21.5% RP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87452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9" name="Shape 17"/>
          <p:cNvSpPr/>
          <p:nvPr/>
        </p:nvSpPr>
        <p:spPr>
          <a:xfrm>
            <a:off x="8046720" y="1874520"/>
            <a:ext cx="3657600" cy="73152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0" name="Text 18"/>
          <p:cNvSpPr/>
          <p:nvPr/>
        </p:nvSpPr>
        <p:spPr>
          <a:xfrm>
            <a:off x="822960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TURNOVER (RP)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2350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0.285 MVO (~16× higher)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4712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Volatility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Turnover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−22.23 %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−21.45 %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−21.35 %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F4F6FB"/>
          </a:solidFill>
          <a:ln w="6350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5" name="Shape 22"/>
          <p:cNvSpPr/>
          <p:nvPr/>
        </p:nvSpPr>
        <p:spPr>
          <a:xfrm>
            <a:off x="457200" y="5897880"/>
            <a:ext cx="73152" cy="64008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6" name="Text 23"/>
          <p:cNvSpPr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3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wins on raw return and Sharpe, but RP and HRP achieve ~85% of its Sharpe with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lower turnover and 6× more stable weights</a:t>
            </a:r>
            <a:r>
              <a:rPr lang="en-US" sz="13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ETFS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ETFs — cumulative returns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€1, 2010 – 2026 · MVO compounds aggressively; RP and HRP track each other closely.</a:t>
            </a:r>
            <a:endParaRPr lang="en-US" sz="1400" dirty="0"/>
          </a:p>
        </p:txBody>
      </p:sp>
      <p:pic>
        <p:nvPicPr>
          <p:cNvPr id="8" name="Image 0" descr="ETFs_-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777240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828800"/>
            <a:ext cx="3291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0" name="Shape 7"/>
          <p:cNvSpPr/>
          <p:nvPr/>
        </p:nvSpPr>
        <p:spPr>
          <a:xfrm>
            <a:off x="8412480" y="1828800"/>
            <a:ext cx="73152" cy="457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1" name="Text 8"/>
          <p:cNvSpPr/>
          <p:nvPr/>
        </p:nvSpPr>
        <p:spPr>
          <a:xfrm>
            <a:off x="868680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22494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269748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~5.5×, well above RP (~3.3×) and HRP (~3.1×).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 accelerates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post-2020, driven by concentrated SPY exposure during the bull run.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MVO's return path is </a:t>
            </a: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visibly more volatile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note the 2022 sell-off.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and HRP follow </a:t>
            </a: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parallel paths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consistent with their common risk-based DNA.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ETFS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ETFs — drawdown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is nearly identical across methods; HRP edges out by 9 bps.</a:t>
            </a:r>
            <a:endParaRPr lang="en-US" sz="1400" dirty="0"/>
          </a:p>
        </p:txBody>
      </p:sp>
      <p:pic>
        <p:nvPicPr>
          <p:cNvPr id="8" name="Image 0" descr="ETFs_-_Drawdow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777240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828800"/>
            <a:ext cx="3291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0" name="Shape 7"/>
          <p:cNvSpPr/>
          <p:nvPr/>
        </p:nvSpPr>
        <p:spPr>
          <a:xfrm>
            <a:off x="8412480" y="1828800"/>
            <a:ext cx="73152" cy="457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1" name="Text 8"/>
          <p:cNvSpPr/>
          <p:nvPr/>
        </p:nvSpPr>
        <p:spPr>
          <a:xfrm>
            <a:off x="868680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INSIGHTS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22494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 clustering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269748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−22.2% MVO  ·  −21.5% RP  ·  −21.4% HRP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episode: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rate-hike cycle hits all three within 1 percentage point.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recovers faster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with sharper interim losses.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diversified ETF universe, drawdown protection from robust methods is </a:t>
            </a:r>
            <a:r>
              <a:rPr lang="en-US" sz="1200" b="1" i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ETFS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ETFs — allocation stability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empirical case for robust methods: weights, not returns.</a:t>
            </a:r>
            <a:endParaRPr lang="en-US" sz="1400" dirty="0"/>
          </a:p>
        </p:txBody>
      </p:sp>
      <p:pic>
        <p:nvPicPr>
          <p:cNvPr id="8" name="Image 0" descr="ETFs_-_Weights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7772400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783080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0" name="Shape 7"/>
          <p:cNvSpPr/>
          <p:nvPr/>
        </p:nvSpPr>
        <p:spPr>
          <a:xfrm>
            <a:off x="8412480" y="1783080"/>
            <a:ext cx="73152" cy="1417320"/>
          </a:xfrm>
          <a:prstGeom prst="rect">
            <a:avLst/>
          </a:prstGeom>
          <a:solidFill>
            <a:srgbClr val="C04A3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1" name="Text 8"/>
          <p:cNvSpPr/>
          <p:nvPr/>
        </p:nvSpPr>
        <p:spPr>
          <a:xfrm>
            <a:off x="864108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· UNSTABLE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41080" y="2157984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swing 0 → 100% across rebalances. Turnover 0.285, weight stability 0.143.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12480" y="3383280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4" name="Shape 11"/>
          <p:cNvSpPr/>
          <p:nvPr/>
        </p:nvSpPr>
        <p:spPr>
          <a:xfrm>
            <a:off x="8412480" y="3383280"/>
            <a:ext cx="73152" cy="14173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2"/>
          <p:cNvSpPr/>
          <p:nvPr/>
        </p:nvSpPr>
        <p:spPr>
          <a:xfrm>
            <a:off x="864108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· SMOOTHEST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41080" y="3758184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monotonic drift. Turnover 0.017 (16× lower than MVO), weight stability 0.022.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412480" y="4983480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8" name="Shape 15"/>
          <p:cNvSpPr/>
          <p:nvPr/>
        </p:nvSpPr>
        <p:spPr>
          <a:xfrm>
            <a:off x="8412480" y="498348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9" name="Text 16"/>
          <p:cNvSpPr/>
          <p:nvPr/>
        </p:nvSpPr>
        <p:spPr>
          <a:xfrm>
            <a:off x="8641080" y="5074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 · BALANCED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41080" y="5358384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Cluster-driven; HYG dominates. Turnover 0.086, weight stability 0.070 — between RP and MVO.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Cryptocurrency Universe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· 2019 –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 ·  ETH  ·  LTC  ·  XRP  ·  DOGE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CRYPTO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— performance 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methods, radically different ranking — robust methods now lead on every metric.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657600" cy="7315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RETURN (HRP)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+105.5%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89.7% RP · 61.7% MVO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87452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4251960" y="1874520"/>
            <a:ext cx="3657600" cy="73152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443484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(RP)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350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3484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0.80 MVO · 0.73 HRP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87452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9" name="Shape 17"/>
          <p:cNvSpPr/>
          <p:nvPr/>
        </p:nvSpPr>
        <p:spPr>
          <a:xfrm>
            <a:off x="8046720" y="1874520"/>
            <a:ext cx="3657600" cy="7315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0" name="Text 18"/>
          <p:cNvSpPr/>
          <p:nvPr/>
        </p:nvSpPr>
        <p:spPr>
          <a:xfrm>
            <a:off x="822960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CALMAR (HRP)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2350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 RP · 0.80 MVO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0424160" cy="1645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Volatility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Turnover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Wt.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−77.59 %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110.81 %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−69.87 %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105.53 %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144.44 %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−69.60 %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F4F6FB"/>
          </a:solidFill>
          <a:ln w="6350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5" name="Shape 22"/>
          <p:cNvSpPr/>
          <p:nvPr/>
        </p:nvSpPr>
        <p:spPr>
          <a:xfrm>
            <a:off x="457200" y="5897880"/>
            <a:ext cx="73152" cy="64008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6" name="Text 23"/>
          <p:cNvSpPr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3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flips.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is now the worst performer</a:t>
            </a:r>
            <a:r>
              <a:rPr lang="en-US" sz="13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return, drawdown, and turnover. Robust methods dominate when the universe is high-vol and unstable.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CRYPTO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— cumulative returns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$1, 2019 – 2026 · HRP and RP leave MVO behind; the late-2024 rally drives the gap.</a:t>
            </a:r>
            <a:endParaRPr lang="en-US" sz="1400" dirty="0"/>
          </a:p>
        </p:txBody>
      </p:sp>
      <p:pic>
        <p:nvPicPr>
          <p:cNvPr id="8" name="Image 0" descr="Crypto_-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777240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828800"/>
            <a:ext cx="3291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0" name="Shape 7"/>
          <p:cNvSpPr/>
          <p:nvPr/>
        </p:nvSpPr>
        <p:spPr>
          <a:xfrm>
            <a:off x="8412480" y="1828800"/>
            <a:ext cx="73152" cy="457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1" name="Text 8"/>
          <p:cNvSpPr/>
          <p:nvPr/>
        </p:nvSpPr>
        <p:spPr>
          <a:xfrm>
            <a:off x="868680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22494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269748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wealth: </a:t>
            </a:r>
            <a:r>
              <a:rPr lang="en-US" sz="120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55€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 </a:t>
            </a:r>
            <a:r>
              <a:rPr lang="en-US" sz="120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40€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</a:t>
            </a:r>
            <a:r>
              <a:rPr lang="en-US" sz="120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13€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underperforms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— concentrated bets on the wrong coin at the wrong time.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Late-2024 spike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triples HRP wealth via diversified upside capture (BTC + ETH + LTC).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— even passive, equal-risk diversification — </a:t>
            </a: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dramatically in fat-tailed markets.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CRYPTO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— drawdown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drawdowns deeper and longer; the 2022 crypto winter exposes its fragility.</a:t>
            </a:r>
            <a:endParaRPr lang="en-US" sz="1400" dirty="0"/>
          </a:p>
        </p:txBody>
      </p:sp>
      <p:pic>
        <p:nvPicPr>
          <p:cNvPr id="8" name="Image 0" descr="Crypto_-_Drawdow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777240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828800"/>
            <a:ext cx="3291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0" name="Shape 7"/>
          <p:cNvSpPr/>
          <p:nvPr/>
        </p:nvSpPr>
        <p:spPr>
          <a:xfrm>
            <a:off x="8412480" y="1828800"/>
            <a:ext cx="73152" cy="457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1" name="Text 8"/>
          <p:cNvSpPr/>
          <p:nvPr/>
        </p:nvSpPr>
        <p:spPr>
          <a:xfrm>
            <a:off x="868680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INSIGHTS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22494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MVO breaks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269748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−77.6% MVO  ·  −69.9% RP  ·  −69.6% HRP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bottoms ~8 pp deeper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2022 drawdown — concentrated exposure punished hardest.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 gap: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(HRP) vs 0.80 (MVO) — robust methods deliver </a:t>
            </a: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2× the return per unit of drawdown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strongly supported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crypto universe.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CRYPTO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— allocation stability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whipsaws between single-coin bets; RP and HRP stay diversified.</a:t>
            </a:r>
            <a:endParaRPr lang="en-US" sz="1400" dirty="0"/>
          </a:p>
        </p:txBody>
      </p:sp>
      <p:pic>
        <p:nvPicPr>
          <p:cNvPr id="8" name="Image 0" descr="Crypto_-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7772400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783080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0" name="Shape 7"/>
          <p:cNvSpPr/>
          <p:nvPr/>
        </p:nvSpPr>
        <p:spPr>
          <a:xfrm>
            <a:off x="8412480" y="1783080"/>
            <a:ext cx="73152" cy="1417320"/>
          </a:xfrm>
          <a:prstGeom prst="rect">
            <a:avLst/>
          </a:prstGeom>
          <a:solidFill>
            <a:srgbClr val="C04A3F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1" name="Text 8"/>
          <p:cNvSpPr/>
          <p:nvPr/>
        </p:nvSpPr>
        <p:spPr>
          <a:xfrm>
            <a:off x="864108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· EXTREME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41080" y="2157984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100% in one coin. Turnover 0.607, weight stability 0.225.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12480" y="3383280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4" name="Shape 11"/>
          <p:cNvSpPr/>
          <p:nvPr/>
        </p:nvSpPr>
        <p:spPr>
          <a:xfrm>
            <a:off x="8412480" y="3383280"/>
            <a:ext cx="73152" cy="14173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2"/>
          <p:cNvSpPr/>
          <p:nvPr/>
        </p:nvSpPr>
        <p:spPr>
          <a:xfrm>
            <a:off x="864108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· DIVERSIFIED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41080" y="3758184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coins ~10–35%. Turnover 0.073 (8× lower than MVO), weight stability 0.057.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412480" y="4983480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8" name="Shape 15"/>
          <p:cNvSpPr/>
          <p:nvPr/>
        </p:nvSpPr>
        <p:spPr>
          <a:xfrm>
            <a:off x="8412480" y="498348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9" name="Text 16"/>
          <p:cNvSpPr/>
          <p:nvPr/>
        </p:nvSpPr>
        <p:spPr>
          <a:xfrm>
            <a:off x="8641080" y="5074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 · CLUSTERED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41080" y="5358384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anchors ~30–50%; correlation clusters drive the rest. Turnover 0.203, stability 0.103.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ETFs vs Crypto — head to head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methods give opposite verdicts depending on the asset universe.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ETFs (Traditional)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MVO (1.08)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(0.81), MVO close 2nd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Universe-dependent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≈ −21–22% (tied)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HRP (−69.6%), 8 pp better than MVO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methods win in tail-risk regimes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turnover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(0.017) — 16× &lt; MVO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(0.073) — 8× &lt; MVO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wins everywhere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(0.022) — 6× more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(0.057) — 4× more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methods win everywhere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MVO (11.3%)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HRP (105.5%) — 1.7× MVO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Reverses across universes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C6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HRP 1.52 vs MVO 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dominate on risk-adj. 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7"/>
          <p:cNvSpPr/>
          <p:nvPr/>
        </p:nvSpPr>
        <p:spPr>
          <a:xfrm>
            <a:off x="777240" y="54406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INSIGHT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MVO's edge in stable, well-diversified universes evaporates — and reverses — when applied to volatile, high-tail-risk assets. </a:t>
            </a:r>
            <a:r>
              <a:rPr lang="en-US" sz="1600" b="1" i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is not a luxury; it is the binding constraint on practical implementability.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Portfolio Optimization Beyond Markowitz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11247120" cy="0"/>
          </a:xfrm>
          <a:prstGeom prst="line">
            <a:avLst/>
          </a:prstGeom>
          <a:noFill/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thesis recommendation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empirical results back to the three hypotheses, and a recommendation for the supervisor.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703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·  STABILITY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Strongly supported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universes: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cuts turnover 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8–16×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MVO. HRP sits in between.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stability 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4–6×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both robust methods.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29100" y="1828800"/>
            <a:ext cx="3703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4229100" y="1828800"/>
            <a:ext cx="73152" cy="237744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4457700" y="1965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·  DRAWDOWN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5770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Conditionally supported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57700" y="26974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ETFs: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MaxDD nearly identical (~21–22%). Tied.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Crypto: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−77.6%; HRP/RP −69.6/−69.9%. Robust methods avoid 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 pp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extra loss.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3703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F2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9" name="Shape 17"/>
          <p:cNvSpPr/>
          <p:nvPr/>
        </p:nvSpPr>
        <p:spPr>
          <a:xfrm>
            <a:off x="8001000" y="1828800"/>
            <a:ext cx="73152" cy="237744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0" name="Text 18"/>
          <p:cNvSpPr/>
          <p:nvPr/>
        </p:nvSpPr>
        <p:spPr>
          <a:xfrm>
            <a:off x="8229600" y="1965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·  SHARPE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974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ETFs: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 1.08 vs RP 0.88 / HRP 0.90 — robust methods retain 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MVO Sharpe.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Crypto:  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within 0.07 of each other; 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loss</a:t>
            </a:r>
            <a:r>
              <a:rPr lang="en-US" sz="12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11247120" cy="2103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137160" cy="210312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5" name="Text 23"/>
          <p:cNvSpPr/>
          <p:nvPr/>
        </p:nvSpPr>
        <p:spPr>
          <a:xfrm>
            <a:off x="868680" y="45720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FOR THE THESIS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8646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empirical core of the thesis on the crypto universe.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" y="53492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 results are economically more interesting and rhetorically stronger. They show the </a:t>
            </a:r>
            <a:r>
              <a:rPr lang="en-US" sz="1300" b="1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flip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MVO loses on every dimension — which makes a sharper case for robust allocation than the ETF universe, where differences are mostly second-order.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ETF universe as a robustness check / control group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demonstrating that robust methods don't break in well-behaved data, while the crypto universe carries the headline finding.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questions, suggestions and refinements.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1371600" cy="0"/>
          </a:xfrm>
          <a:prstGeom prst="line">
            <a:avLst/>
          </a:prstGeom>
          <a:noFill/>
          <a:ln w="25400">
            <a:solidFill>
              <a:srgbClr val="E8B339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 to consider: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both universes remain in the final thesis, or focus on crypto?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transaction-cost stress test to harden the turnover argument?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comparison with a 1/N benchmark (DeMiguel et al., 2009)?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1793</Words>
  <Application>Microsoft Macintosh PowerPoint</Application>
  <PresentationFormat>Widescreen</PresentationFormat>
  <Paragraphs>317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Optimization Beyond Markowitz</dc:title>
  <dc:subject>PptxGenJS Presentation</dc:subject>
  <dc:creator>TFM</dc:creator>
  <cp:lastModifiedBy>Javier Sanjuán</cp:lastModifiedBy>
  <cp:revision>3</cp:revision>
  <dcterms:created xsi:type="dcterms:W3CDTF">2026-05-04T14:46:37Z</dcterms:created>
  <dcterms:modified xsi:type="dcterms:W3CDTF">2026-05-04T16:19:36Z</dcterms:modified>
</cp:coreProperties>
</file>